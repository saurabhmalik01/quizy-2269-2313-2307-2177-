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91" r:id="rId6"/>
    <p:sldId id="274" r:id="rId7"/>
    <p:sldId id="273" r:id="rId8"/>
    <p:sldId id="292" r:id="rId9"/>
    <p:sldId id="293" r:id="rId10"/>
    <p:sldId id="271" r:id="rId11"/>
    <p:sldId id="257" r:id="rId12"/>
    <p:sldId id="297" r:id="rId13"/>
    <p:sldId id="296" r:id="rId14"/>
    <p:sldId id="298" r:id="rId15"/>
    <p:sldId id="283" r:id="rId16"/>
    <p:sldId id="299" r:id="rId17"/>
    <p:sldId id="300" r:id="rId18"/>
    <p:sldId id="295" r:id="rId19"/>
    <p:sldId id="286" r:id="rId20"/>
    <p:sldId id="268" r:id="rId2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AF8DB620-2583-475D-9F87-055691DC1B89}" type="datetime1">
              <a:rPr lang="en-US" sz="1200" b="0" strike="noStrike" spc="-1" smtClean="0">
                <a:latin typeface="Times New Roman"/>
              </a:rPr>
              <a:t>5/7/2026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" TargetMode="External"/><Relationship Id="rId2" Type="http://schemas.openxmlformats.org/officeDocument/2006/relationships/hyperlink" Target="https://react.dev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ailwindcss.com/" TargetMode="External"/><Relationship Id="rId5" Type="http://schemas.openxmlformats.org/officeDocument/2006/relationships/hyperlink" Target="https://expressjs.com/" TargetMode="External"/><Relationship Id="rId4" Type="http://schemas.openxmlformats.org/officeDocument/2006/relationships/hyperlink" Target="https://www.mongodb.com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71748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sz="2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Industry Oriented Hands on Experience(22CS422)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2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4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400"/>
              </a:spcBef>
            </a:pP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Quizy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AI-Powered Quiz Generator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2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2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2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Saurabh Malik(2210992269)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2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Shivam (2210992317)</a:t>
            </a:r>
            <a:br>
              <a:rPr lang="en-US" sz="22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2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Shivam (2210992307)</a:t>
            </a:r>
            <a:br>
              <a:rPr lang="en-US" sz="22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2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Rohit(2210992177)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 Preeti Saini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-777711" y="0"/>
            <a:ext cx="6019015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6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 </a:t>
            </a:r>
            <a:r>
              <a:rPr lang="en" sz="36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239438" y="909687"/>
            <a:ext cx="7953586" cy="5666358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Abstract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Problem Statement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Key Features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Technical details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Literature Review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Workflow Diagram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Implementation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Results/Outputs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Conclusion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Future Scope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dirty="0">
              <a:solidFill>
                <a:srgbClr val="000000"/>
              </a:solidFill>
              <a:latin typeface="Times New Roman" panose="02020603050405020304" pitchFamily="18" charset="0"/>
              <a:ea typeface="Arimo Bold"/>
              <a:cs typeface="Times New Roman" panose="02020603050405020304" pitchFamily="18" charset="0"/>
              <a:sym typeface="Arimo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33A83-55FF-A33C-5A90-DA87AEC58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2F1D73FE-91A0-2678-5583-87687D2E42F6}"/>
              </a:ext>
            </a:extLst>
          </p:cNvPr>
          <p:cNvSpPr txBox="1"/>
          <p:nvPr/>
        </p:nvSpPr>
        <p:spPr>
          <a:xfrm>
            <a:off x="-2040903" y="0"/>
            <a:ext cx="6019015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lang="en-US" sz="32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4CDCCD6A-9054-D5F8-9D95-B1E2B81FBD37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60641C-85CA-4ECA-D835-2AFE7C10D6D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09803" y="1164457"/>
            <a:ext cx="8524394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Quizy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an AI-powered quiz generator that instantly creates dynamic quizzes from any topic, empowering students to test and improve their knowledge on the go.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offers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experience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through adaptive questions, real-time feedback, and visual insights like word clouds to track focus areas.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to make self-assessment smarter and more engaging,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Quizy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transforms traditional test-taking into an interactive and efficient learning journey.</a:t>
            </a:r>
          </a:p>
        </p:txBody>
      </p:sp>
    </p:spTree>
    <p:extLst>
      <p:ext uri="{BB962C8B-B14F-4D97-AF65-F5344CB8AC3E}">
        <p14:creationId xmlns:p14="http://schemas.microsoft.com/office/powerpoint/2010/main" val="1637095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FC79D-7B2A-965A-78EE-AB9827AF7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492AC897-DACE-7A5A-ADDF-4D8E8694802A}"/>
              </a:ext>
            </a:extLst>
          </p:cNvPr>
          <p:cNvSpPr txBox="1"/>
          <p:nvPr/>
        </p:nvSpPr>
        <p:spPr>
          <a:xfrm>
            <a:off x="-1069943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endParaRPr lang="en-US" sz="32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E3AEEE1E-8987-E0EB-7211-61E6DD6EB9E7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5D33A3E-1373-39A8-4DC3-7C7500BA943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08041" y="1439653"/>
            <a:ext cx="892855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quiz platforms are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 and repetitive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failing to adapt to individual learning needs or pace.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lack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personalization, real-time feedback, and engaging elements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self-assessment dull and ineffective.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need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smart, interactive solution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generates dynamic quizzes and provides meaningful insights to boost independent learning.</a:t>
            </a:r>
          </a:p>
        </p:txBody>
      </p:sp>
    </p:spTree>
    <p:extLst>
      <p:ext uri="{BB962C8B-B14F-4D97-AF65-F5344CB8AC3E}">
        <p14:creationId xmlns:p14="http://schemas.microsoft.com/office/powerpoint/2010/main" val="2177183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6704640"/>
            <a:ext cx="9144000" cy="198000"/>
            <a:chOff x="0" y="0"/>
            <a:chExt cx="13004800" cy="281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04800" cy="281559"/>
            </a:xfrm>
            <a:custGeom>
              <a:avLst/>
              <a:gdLst/>
              <a:ahLst/>
              <a:cxnLst/>
              <a:rect l="l" t="t" r="r" b="b"/>
              <a:pathLst>
                <a:path w="13004800" h="281559">
                  <a:moveTo>
                    <a:pt x="0" y="0"/>
                  </a:moveTo>
                  <a:lnTo>
                    <a:pt x="13004800" y="0"/>
                  </a:lnTo>
                  <a:lnTo>
                    <a:pt x="13004800" y="281559"/>
                  </a:lnTo>
                  <a:lnTo>
                    <a:pt x="0" y="2815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6553080" y="228600"/>
            <a:ext cx="2057040" cy="634680"/>
          </a:xfrm>
          <a:custGeom>
            <a:avLst/>
            <a:gdLst/>
            <a:ahLst/>
            <a:cxnLst/>
            <a:rect l="l" t="t" r="r" b="b"/>
            <a:pathLst>
              <a:path w="2194176" h="676992">
                <a:moveTo>
                  <a:pt x="0" y="0"/>
                </a:moveTo>
                <a:lnTo>
                  <a:pt x="2194176" y="0"/>
                </a:lnTo>
                <a:lnTo>
                  <a:pt x="2194176" y="676992"/>
                </a:lnTo>
                <a:lnTo>
                  <a:pt x="0" y="676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024" b="-6024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553080" y="228600"/>
            <a:ext cx="2057040" cy="634680"/>
          </a:xfrm>
          <a:custGeom>
            <a:avLst/>
            <a:gdLst/>
            <a:ahLst/>
            <a:cxnLst/>
            <a:rect l="l" t="t" r="r" b="b"/>
            <a:pathLst>
              <a:path w="2194176" h="676992">
                <a:moveTo>
                  <a:pt x="0" y="0"/>
                </a:moveTo>
                <a:lnTo>
                  <a:pt x="2194176" y="0"/>
                </a:lnTo>
                <a:lnTo>
                  <a:pt x="2194176" y="676992"/>
                </a:lnTo>
                <a:lnTo>
                  <a:pt x="0" y="676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024" b="-6024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6146640" y="0"/>
            <a:ext cx="2997360" cy="838080"/>
            <a:chOff x="0" y="0"/>
            <a:chExt cx="4262912" cy="11919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62882" cy="1191895"/>
            </a:xfrm>
            <a:custGeom>
              <a:avLst/>
              <a:gdLst/>
              <a:ahLst/>
              <a:cxnLst/>
              <a:rect l="l" t="t" r="r" b="b"/>
              <a:pathLst>
                <a:path w="4262882" h="1191895">
                  <a:moveTo>
                    <a:pt x="0" y="0"/>
                  </a:moveTo>
                  <a:lnTo>
                    <a:pt x="4262882" y="0"/>
                  </a:lnTo>
                  <a:lnTo>
                    <a:pt x="4262882" y="1191895"/>
                  </a:lnTo>
                  <a:lnTo>
                    <a:pt x="0" y="11918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200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6553080" y="228600"/>
            <a:ext cx="2057040" cy="634680"/>
          </a:xfrm>
          <a:custGeom>
            <a:avLst/>
            <a:gdLst/>
            <a:ahLst/>
            <a:cxnLst/>
            <a:rect l="l" t="t" r="r" b="b"/>
            <a:pathLst>
              <a:path w="2194176" h="676992">
                <a:moveTo>
                  <a:pt x="0" y="0"/>
                </a:moveTo>
                <a:lnTo>
                  <a:pt x="2194176" y="0"/>
                </a:lnTo>
                <a:lnTo>
                  <a:pt x="2194176" y="676992"/>
                </a:lnTo>
                <a:lnTo>
                  <a:pt x="0" y="676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024" b="-6024"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6527880" y="190440"/>
            <a:ext cx="2076480" cy="685800"/>
            <a:chOff x="0" y="0"/>
            <a:chExt cx="2953216" cy="9753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53258" cy="975360"/>
            </a:xfrm>
            <a:custGeom>
              <a:avLst/>
              <a:gdLst/>
              <a:ahLst/>
              <a:cxnLst/>
              <a:rect l="l" t="t" r="r" b="b"/>
              <a:pathLst>
                <a:path w="2953258" h="975360">
                  <a:moveTo>
                    <a:pt x="0" y="0"/>
                  </a:moveTo>
                  <a:lnTo>
                    <a:pt x="2953258" y="0"/>
                  </a:lnTo>
                  <a:lnTo>
                    <a:pt x="2953258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6553080" y="228600"/>
            <a:ext cx="1920600" cy="609120"/>
          </a:xfrm>
          <a:custGeom>
            <a:avLst/>
            <a:gdLst/>
            <a:ahLst/>
            <a:cxnLst/>
            <a:rect l="l" t="t" r="r" b="b"/>
            <a:pathLst>
              <a:path w="2048640" h="649728">
                <a:moveTo>
                  <a:pt x="0" y="0"/>
                </a:moveTo>
                <a:lnTo>
                  <a:pt x="2048640" y="0"/>
                </a:lnTo>
                <a:lnTo>
                  <a:pt x="2048640" y="649728"/>
                </a:lnTo>
                <a:lnTo>
                  <a:pt x="0" y="6497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1" b="-11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553080" y="228600"/>
            <a:ext cx="2057040" cy="634680"/>
          </a:xfrm>
          <a:custGeom>
            <a:avLst/>
            <a:gdLst/>
            <a:ahLst/>
            <a:cxnLst/>
            <a:rect l="l" t="t" r="r" b="b"/>
            <a:pathLst>
              <a:path w="2194176" h="676992">
                <a:moveTo>
                  <a:pt x="0" y="0"/>
                </a:moveTo>
                <a:lnTo>
                  <a:pt x="2194176" y="0"/>
                </a:lnTo>
                <a:lnTo>
                  <a:pt x="2194176" y="676992"/>
                </a:lnTo>
                <a:lnTo>
                  <a:pt x="0" y="676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024" b="-6024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6146640" y="0"/>
            <a:ext cx="2997360" cy="838080"/>
            <a:chOff x="0" y="0"/>
            <a:chExt cx="4262912" cy="119193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262882" cy="1191895"/>
            </a:xfrm>
            <a:custGeom>
              <a:avLst/>
              <a:gdLst/>
              <a:ahLst/>
              <a:cxnLst/>
              <a:rect l="l" t="t" r="r" b="b"/>
              <a:pathLst>
                <a:path w="4262882" h="1191895">
                  <a:moveTo>
                    <a:pt x="0" y="0"/>
                  </a:moveTo>
                  <a:lnTo>
                    <a:pt x="4262882" y="0"/>
                  </a:lnTo>
                  <a:lnTo>
                    <a:pt x="4262882" y="1191895"/>
                  </a:lnTo>
                  <a:lnTo>
                    <a:pt x="0" y="11918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200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6553080" y="228600"/>
            <a:ext cx="2057040" cy="634680"/>
          </a:xfrm>
          <a:custGeom>
            <a:avLst/>
            <a:gdLst/>
            <a:ahLst/>
            <a:cxnLst/>
            <a:rect l="l" t="t" r="r" b="b"/>
            <a:pathLst>
              <a:path w="2194176" h="676992">
                <a:moveTo>
                  <a:pt x="0" y="0"/>
                </a:moveTo>
                <a:lnTo>
                  <a:pt x="2194176" y="0"/>
                </a:lnTo>
                <a:lnTo>
                  <a:pt x="2194176" y="676992"/>
                </a:lnTo>
                <a:lnTo>
                  <a:pt x="0" y="676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024" b="-6024"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6527880" y="190440"/>
            <a:ext cx="2076480" cy="685800"/>
            <a:chOff x="0" y="0"/>
            <a:chExt cx="2953216" cy="9753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953258" cy="975360"/>
            </a:xfrm>
            <a:custGeom>
              <a:avLst/>
              <a:gdLst/>
              <a:ahLst/>
              <a:cxnLst/>
              <a:rect l="l" t="t" r="r" b="b"/>
              <a:pathLst>
                <a:path w="2953258" h="975360">
                  <a:moveTo>
                    <a:pt x="0" y="0"/>
                  </a:moveTo>
                  <a:lnTo>
                    <a:pt x="2953258" y="0"/>
                  </a:lnTo>
                  <a:lnTo>
                    <a:pt x="2953258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0" name="Freeform 20"/>
          <p:cNvSpPr/>
          <p:nvPr/>
        </p:nvSpPr>
        <p:spPr>
          <a:xfrm>
            <a:off x="6553080" y="228600"/>
            <a:ext cx="1920600" cy="609120"/>
          </a:xfrm>
          <a:custGeom>
            <a:avLst/>
            <a:gdLst/>
            <a:ahLst/>
            <a:cxnLst/>
            <a:rect l="l" t="t" r="r" b="b"/>
            <a:pathLst>
              <a:path w="2048640" h="649728">
                <a:moveTo>
                  <a:pt x="0" y="0"/>
                </a:moveTo>
                <a:lnTo>
                  <a:pt x="2048640" y="0"/>
                </a:lnTo>
                <a:lnTo>
                  <a:pt x="2048640" y="649728"/>
                </a:lnTo>
                <a:lnTo>
                  <a:pt x="0" y="6497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1" b="-11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-586195" y="146707"/>
            <a:ext cx="6923455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Key Features &amp; Functionalities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53E9D2F2-D07C-2818-5974-745365F72D7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51000" y="762224"/>
            <a:ext cx="8472960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AI-Powered Quiz Generation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quizzes instantly from any topic using NLP-based AI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Question Formats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MCQs, fill-in-the-blanks, and short-answer questions for varied assessments.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Adaptive Learning Experience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Adjusts question difficulty based on user performance to promote effective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Feedback &amp; Analytics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results instantly with visual insights like word clouds for topic focus.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Google-Based Login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role-based access and data privacy using Firebase Authentication.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Quiz Export &amp; Offline Access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download quizzes and results in PDF format for offline review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975871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6704640"/>
            <a:ext cx="9144000" cy="198000"/>
            <a:chOff x="0" y="0"/>
            <a:chExt cx="13004800" cy="281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04800" cy="281559"/>
            </a:xfrm>
            <a:custGeom>
              <a:avLst/>
              <a:gdLst/>
              <a:ahLst/>
              <a:cxnLst/>
              <a:rect l="l" t="t" r="r" b="b"/>
              <a:pathLst>
                <a:path w="13004800" h="281559">
                  <a:moveTo>
                    <a:pt x="0" y="0"/>
                  </a:moveTo>
                  <a:lnTo>
                    <a:pt x="13004800" y="0"/>
                  </a:lnTo>
                  <a:lnTo>
                    <a:pt x="13004800" y="281559"/>
                  </a:lnTo>
                  <a:lnTo>
                    <a:pt x="0" y="2815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6553080" y="228600"/>
            <a:ext cx="2057040" cy="634680"/>
          </a:xfrm>
          <a:custGeom>
            <a:avLst/>
            <a:gdLst/>
            <a:ahLst/>
            <a:cxnLst/>
            <a:rect l="l" t="t" r="r" b="b"/>
            <a:pathLst>
              <a:path w="2194176" h="676992">
                <a:moveTo>
                  <a:pt x="0" y="0"/>
                </a:moveTo>
                <a:lnTo>
                  <a:pt x="2194176" y="0"/>
                </a:lnTo>
                <a:lnTo>
                  <a:pt x="2194176" y="676992"/>
                </a:lnTo>
                <a:lnTo>
                  <a:pt x="0" y="676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024" b="-6024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553080" y="228600"/>
            <a:ext cx="2057040" cy="634680"/>
          </a:xfrm>
          <a:custGeom>
            <a:avLst/>
            <a:gdLst/>
            <a:ahLst/>
            <a:cxnLst/>
            <a:rect l="l" t="t" r="r" b="b"/>
            <a:pathLst>
              <a:path w="2194176" h="676992">
                <a:moveTo>
                  <a:pt x="0" y="0"/>
                </a:moveTo>
                <a:lnTo>
                  <a:pt x="2194176" y="0"/>
                </a:lnTo>
                <a:lnTo>
                  <a:pt x="2194176" y="676992"/>
                </a:lnTo>
                <a:lnTo>
                  <a:pt x="0" y="676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024" b="-6024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6146640" y="0"/>
            <a:ext cx="2997360" cy="838080"/>
            <a:chOff x="0" y="0"/>
            <a:chExt cx="4262912" cy="11919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62882" cy="1191895"/>
            </a:xfrm>
            <a:custGeom>
              <a:avLst/>
              <a:gdLst/>
              <a:ahLst/>
              <a:cxnLst/>
              <a:rect l="l" t="t" r="r" b="b"/>
              <a:pathLst>
                <a:path w="4262882" h="1191895">
                  <a:moveTo>
                    <a:pt x="0" y="0"/>
                  </a:moveTo>
                  <a:lnTo>
                    <a:pt x="4262882" y="0"/>
                  </a:lnTo>
                  <a:lnTo>
                    <a:pt x="4262882" y="1191895"/>
                  </a:lnTo>
                  <a:lnTo>
                    <a:pt x="0" y="11918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200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6553080" y="228600"/>
            <a:ext cx="2057040" cy="634680"/>
          </a:xfrm>
          <a:custGeom>
            <a:avLst/>
            <a:gdLst/>
            <a:ahLst/>
            <a:cxnLst/>
            <a:rect l="l" t="t" r="r" b="b"/>
            <a:pathLst>
              <a:path w="2194176" h="676992">
                <a:moveTo>
                  <a:pt x="0" y="0"/>
                </a:moveTo>
                <a:lnTo>
                  <a:pt x="2194176" y="0"/>
                </a:lnTo>
                <a:lnTo>
                  <a:pt x="2194176" y="676992"/>
                </a:lnTo>
                <a:lnTo>
                  <a:pt x="0" y="676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024" b="-6024"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6527880" y="190440"/>
            <a:ext cx="2076480" cy="685800"/>
            <a:chOff x="0" y="0"/>
            <a:chExt cx="2953216" cy="9753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53258" cy="975360"/>
            </a:xfrm>
            <a:custGeom>
              <a:avLst/>
              <a:gdLst/>
              <a:ahLst/>
              <a:cxnLst/>
              <a:rect l="l" t="t" r="r" b="b"/>
              <a:pathLst>
                <a:path w="2953258" h="975360">
                  <a:moveTo>
                    <a:pt x="0" y="0"/>
                  </a:moveTo>
                  <a:lnTo>
                    <a:pt x="2953258" y="0"/>
                  </a:lnTo>
                  <a:lnTo>
                    <a:pt x="2953258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6553080" y="228600"/>
            <a:ext cx="1920600" cy="609120"/>
          </a:xfrm>
          <a:custGeom>
            <a:avLst/>
            <a:gdLst/>
            <a:ahLst/>
            <a:cxnLst/>
            <a:rect l="l" t="t" r="r" b="b"/>
            <a:pathLst>
              <a:path w="2048640" h="649728">
                <a:moveTo>
                  <a:pt x="0" y="0"/>
                </a:moveTo>
                <a:lnTo>
                  <a:pt x="2048640" y="0"/>
                </a:lnTo>
                <a:lnTo>
                  <a:pt x="2048640" y="649728"/>
                </a:lnTo>
                <a:lnTo>
                  <a:pt x="0" y="6497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1" b="-11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553080" y="228600"/>
            <a:ext cx="2057040" cy="634680"/>
          </a:xfrm>
          <a:custGeom>
            <a:avLst/>
            <a:gdLst/>
            <a:ahLst/>
            <a:cxnLst/>
            <a:rect l="l" t="t" r="r" b="b"/>
            <a:pathLst>
              <a:path w="2194176" h="676992">
                <a:moveTo>
                  <a:pt x="0" y="0"/>
                </a:moveTo>
                <a:lnTo>
                  <a:pt x="2194176" y="0"/>
                </a:lnTo>
                <a:lnTo>
                  <a:pt x="2194176" y="676992"/>
                </a:lnTo>
                <a:lnTo>
                  <a:pt x="0" y="676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024" b="-6024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6146640" y="0"/>
            <a:ext cx="2997360" cy="838080"/>
            <a:chOff x="0" y="0"/>
            <a:chExt cx="4262912" cy="119193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262882" cy="1191895"/>
            </a:xfrm>
            <a:custGeom>
              <a:avLst/>
              <a:gdLst/>
              <a:ahLst/>
              <a:cxnLst/>
              <a:rect l="l" t="t" r="r" b="b"/>
              <a:pathLst>
                <a:path w="4262882" h="1191895">
                  <a:moveTo>
                    <a:pt x="0" y="0"/>
                  </a:moveTo>
                  <a:lnTo>
                    <a:pt x="4262882" y="0"/>
                  </a:lnTo>
                  <a:lnTo>
                    <a:pt x="4262882" y="1191895"/>
                  </a:lnTo>
                  <a:lnTo>
                    <a:pt x="0" y="11918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200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6553080" y="228600"/>
            <a:ext cx="2057040" cy="634680"/>
          </a:xfrm>
          <a:custGeom>
            <a:avLst/>
            <a:gdLst/>
            <a:ahLst/>
            <a:cxnLst/>
            <a:rect l="l" t="t" r="r" b="b"/>
            <a:pathLst>
              <a:path w="2194176" h="676992">
                <a:moveTo>
                  <a:pt x="0" y="0"/>
                </a:moveTo>
                <a:lnTo>
                  <a:pt x="2194176" y="0"/>
                </a:lnTo>
                <a:lnTo>
                  <a:pt x="2194176" y="676992"/>
                </a:lnTo>
                <a:lnTo>
                  <a:pt x="0" y="6769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024" b="-6024"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6527880" y="190440"/>
            <a:ext cx="2076480" cy="685800"/>
            <a:chOff x="0" y="0"/>
            <a:chExt cx="2953216" cy="9753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953258" cy="975360"/>
            </a:xfrm>
            <a:custGeom>
              <a:avLst/>
              <a:gdLst/>
              <a:ahLst/>
              <a:cxnLst/>
              <a:rect l="l" t="t" r="r" b="b"/>
              <a:pathLst>
                <a:path w="2953258" h="975360">
                  <a:moveTo>
                    <a:pt x="0" y="0"/>
                  </a:moveTo>
                  <a:lnTo>
                    <a:pt x="2953258" y="0"/>
                  </a:lnTo>
                  <a:lnTo>
                    <a:pt x="2953258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0" name="Freeform 20"/>
          <p:cNvSpPr/>
          <p:nvPr/>
        </p:nvSpPr>
        <p:spPr>
          <a:xfrm>
            <a:off x="6553080" y="228600"/>
            <a:ext cx="1920600" cy="609120"/>
          </a:xfrm>
          <a:custGeom>
            <a:avLst/>
            <a:gdLst/>
            <a:ahLst/>
            <a:cxnLst/>
            <a:rect l="l" t="t" r="r" b="b"/>
            <a:pathLst>
              <a:path w="2048640" h="649728">
                <a:moveTo>
                  <a:pt x="0" y="0"/>
                </a:moveTo>
                <a:lnTo>
                  <a:pt x="2048640" y="0"/>
                </a:lnTo>
                <a:lnTo>
                  <a:pt x="2048640" y="649728"/>
                </a:lnTo>
                <a:lnTo>
                  <a:pt x="0" y="6497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1" b="-11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0683" y="228600"/>
            <a:ext cx="5793355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7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Arimo"/>
                <a:cs typeface="Times New Roman" panose="02020603050405020304" pitchFamily="18" charset="0"/>
                <a:sym typeface="Arimo"/>
              </a:rPr>
              <a:t>Technical Architectural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8E3C7CE-6F99-4D2C-2C7C-1626C280862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82823" y="914400"/>
            <a:ext cx="9372897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Next.js – React framework for fast rendering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Tailwind CSS – Responsive UI styling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WordCloud.js – For word cloud visualizations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Node.js + Express.js – Handles API routes, logic, and server operations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Prisma ORM – Manages database communication with typed queries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NeonDB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(PostgreSQL) – Cloud-native database for storing quizzes, users,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&amp; Hosting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Firebase Auth – Secure Google login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Firebase Hosting / AWS – Project deployment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Gemini API – Generates quiz questions using NLP</a:t>
            </a:r>
          </a:p>
        </p:txBody>
      </p:sp>
    </p:spTree>
    <p:extLst>
      <p:ext uri="{BB962C8B-B14F-4D97-AF65-F5344CB8AC3E}">
        <p14:creationId xmlns:p14="http://schemas.microsoft.com/office/powerpoint/2010/main" val="340210028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244257" y="13297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MY" sz="3200" b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Literature Review</a:t>
            </a:r>
            <a:endParaRPr lang="en-IN" sz="32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 rot="21355124">
            <a:off x="745121" y="943341"/>
            <a:ext cx="8849739" cy="5414302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1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9DE49E-13FC-15FF-04D4-6E7DE6CF3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94" y="916585"/>
            <a:ext cx="8398872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Gemini API Docs: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Implements NLP-based quiz generation from text, serving as the project’s core AI engine for creating dynamic quiz questions.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Prisma ORM Docs: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Utilized for writing typed database queries with PostgreSQL, ensuring secure and efficient database interactions.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Firebase Auth Docs: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Google-based user authentication, enabling a reliable and secure login system for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WordCloud.js: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JavaScript library used to create word clouds, helping visualize keyword focus and topic prominence in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Next.js Documentation: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Supports hybrid static and dynamic rendering with React, ensuring fast, optimized, and scalable frontend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1914135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-1140643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MY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Diagram </a:t>
            </a: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77226" y="1085129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Level 0: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01F96B-5F07-9B57-A6AD-8809419C8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592" y="1920047"/>
            <a:ext cx="4234815" cy="44364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4BCDD-0853-4E01-79E9-665237334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4C07D7ED-EB53-6DAB-7937-94831B3DE82F}"/>
              </a:ext>
            </a:extLst>
          </p:cNvPr>
          <p:cNvSpPr txBox="1"/>
          <p:nvPr/>
        </p:nvSpPr>
        <p:spPr>
          <a:xfrm>
            <a:off x="-1065229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MY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Diagram </a:t>
            </a: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BF25C9AF-0B85-101D-6AD8-14DF6457024A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12E01D52-17C8-70BE-07AD-E740B76630D4}"/>
              </a:ext>
            </a:extLst>
          </p:cNvPr>
          <p:cNvSpPr txBox="1"/>
          <p:nvPr/>
        </p:nvSpPr>
        <p:spPr>
          <a:xfrm>
            <a:off x="152640" y="1009714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Level 1:</a:t>
            </a: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79028B-E2FC-5605-9A5C-FFB642C8B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523" y="1692777"/>
            <a:ext cx="3729037" cy="455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857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64E9-0FA7-2D45-6C0F-BBAFD2C35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504"/>
            <a:ext cx="5486040" cy="914040"/>
          </a:xfrm>
        </p:spPr>
        <p:txBody>
          <a:bodyPr/>
          <a:lstStyle/>
          <a:p>
            <a:r>
              <a:rPr lang="en-MY" sz="2800" b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Implementation</a:t>
            </a:r>
            <a:endParaRPr lang="en-US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FB49E6-79BF-1080-EB84-A9E76B6D454C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88914" y="910127"/>
            <a:ext cx="8229240" cy="5735559"/>
          </a:xfrm>
        </p:spPr>
        <p:txBody>
          <a:bodyPr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Generation: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utilizes the Gemini API for NLP-based question generation, automatically creating quizzes from input text or documents.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quiz data, user responses, and performance analytics are stored securely using Prisma ORM with PostgreSQL, ensuring structured and efficient database interaction.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Authentication provides a secure and reliable Google-based login system for users to access personalized quiz dashboards.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Interface: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Next.js and React, the frontend offers a fast, responsive, and intuitive interface for taking quizzes and viewing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WordCloud.js is used to visualize keyword frequency and highlight the most important topics from quiz data and learning materials.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Stack: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Next.js (Frontend), Node.js &amp; Express.js (Backend), Prisma ORM with PostgreSQL (Database), Firebase (Authentication), WordCloud.js (Visualization).</a:t>
            </a:r>
          </a:p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917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2F29D-18A7-5D01-8D26-EBB3BB38C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661" y="1"/>
            <a:ext cx="5486040" cy="914040"/>
          </a:xfrm>
        </p:spPr>
        <p:txBody>
          <a:bodyPr/>
          <a:lstStyle/>
          <a:p>
            <a:r>
              <a:rPr lang="en-MY" sz="2800" b="1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MY" sz="2800" b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Results / Output</a:t>
            </a:r>
            <a:endParaRPr lang="en-US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4F8A65-FF08-C2EF-EC41-82A78E50319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18661" y="1312972"/>
            <a:ext cx="8229240" cy="3977280"/>
          </a:xfrm>
        </p:spPr>
        <p:txBody>
          <a:bodyPr anchor="t"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IN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CBEE87-F624-5D8C-56CD-D25BFE631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61" y="914041"/>
            <a:ext cx="8766927" cy="562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000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2F29D-18A7-5D01-8D26-EBB3BB38C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3200" b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Results / Output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4F8A65-FF08-C2EF-EC41-82A78E50319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18661" y="1312972"/>
            <a:ext cx="8229240" cy="3977280"/>
          </a:xfrm>
        </p:spPr>
        <p:txBody>
          <a:bodyPr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F31C41-4B75-75AC-FBCF-415EB7D42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1518"/>
            <a:ext cx="9144000" cy="541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732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7C511E-8A5E-3B82-35A3-465734570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090" y="1022732"/>
            <a:ext cx="8587819" cy="52667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9D99F15-6F2C-C3D7-BE0A-BAF0222CBB57}"/>
              </a:ext>
            </a:extLst>
          </p:cNvPr>
          <p:cNvSpPr txBox="1"/>
          <p:nvPr/>
        </p:nvSpPr>
        <p:spPr>
          <a:xfrm>
            <a:off x="0" y="142626"/>
            <a:ext cx="49766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3200" b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Results / Output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382213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1E386-8D99-46F1-84C4-2E4266BB2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B0A63D-926D-C248-0919-8E81BC762C31}"/>
              </a:ext>
            </a:extLst>
          </p:cNvPr>
          <p:cNvSpPr txBox="1"/>
          <p:nvPr/>
        </p:nvSpPr>
        <p:spPr>
          <a:xfrm>
            <a:off x="0" y="161240"/>
            <a:ext cx="49766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3200" b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Results / Output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E9A66F-E768-522B-7683-135599544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44" y="1080440"/>
            <a:ext cx="8180832" cy="532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522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4EEDF-B890-A664-35C8-E2A13D564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3200" b="1" kern="1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MY" sz="3200" b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Conclusion and Future Scope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B056F-0165-E907-16BF-ED324ED9262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07137" y="914040"/>
            <a:ext cx="8729726" cy="5090473"/>
          </a:xfrm>
        </p:spPr>
        <p:txBody>
          <a:bodyPr anchor="t"/>
          <a:lstStyle/>
          <a:p>
            <a:r>
              <a:rPr lang="en-GB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Quizy</a:t>
            </a: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demonstrates how AI can automate and personalize quiz creation.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</a:t>
            </a:r>
            <a:r>
              <a:rPr lang="en-GB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API</a:t>
            </a: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Auth</a:t>
            </a: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GB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NeonDB</a:t>
            </a: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scalability and security.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quiz generation and instant feedback enhance user engagement and learning outcomes.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question difficulty makes the experience more tailored and effective.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Quizy</a:t>
            </a: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bridges major gaps found in static or rule-based quiz platforms.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GB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and multimodal input</a:t>
            </a: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accessibility and ease of 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</a:t>
            </a:r>
            <a:r>
              <a:rPr lang="en-GB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</a:t>
            </a: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regional and global learners.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GB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version</a:t>
            </a: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wider reach and offline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GB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analytics dashboards</a:t>
            </a: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performance insights and learning recommendations.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lang="en-GB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quiz creation</a:t>
            </a: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gamified leaderboards for group learning.</a:t>
            </a:r>
          </a:p>
        </p:txBody>
      </p:sp>
    </p:spTree>
    <p:extLst>
      <p:ext uri="{BB962C8B-B14F-4D97-AF65-F5344CB8AC3E}">
        <p14:creationId xmlns:p14="http://schemas.microsoft.com/office/powerpoint/2010/main" val="1039797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88690-8A8C-6F8C-E94D-6A34F1FB3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3200" b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References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486440-2C94-3194-3205-9B4600EEA4C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44966" y="914040"/>
            <a:ext cx="9224502" cy="3977280"/>
          </a:xfrm>
        </p:spPr>
        <p:txBody>
          <a:bodyPr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Documentation. Building User Interfaces with React.                       Available at: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https://react.dev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Foundation. Server-side JavaScript Runtime Environment.          Available at: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https://nodejs.org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MongoDB, Inc. NoSQL Database for Modern Applications.                        Available at: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https://www.mongodb.com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Express.js. Web Application Framework for Node.js.                                Available at: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https://expressjs.com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CSS. Utility-First CSS Framework for Rapid UI Development.     Available at: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https://tailwindcss.com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Article: Full-Stack Web Applications Using MERN Stack for Data Management and Visualization, IEEE Xplore, 2023.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650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17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39519</TotalTime>
  <Words>1005</Words>
  <Application>Microsoft Office PowerPoint</Application>
  <PresentationFormat>On-screen Show (4:3)</PresentationFormat>
  <Paragraphs>128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Implementation</vt:lpstr>
      <vt:lpstr>   Results / Output</vt:lpstr>
      <vt:lpstr>Results / Output</vt:lpstr>
      <vt:lpstr>PowerPoint Presentation</vt:lpstr>
      <vt:lpstr>PowerPoint Presentation</vt:lpstr>
      <vt:lpstr> Conclusion and Future Scope</vt:lpstr>
      <vt:lpstr>References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Saurabh Malik</cp:lastModifiedBy>
  <cp:revision>2301</cp:revision>
  <dcterms:created xsi:type="dcterms:W3CDTF">2010-04-09T07:36:15Z</dcterms:created>
  <dcterms:modified xsi:type="dcterms:W3CDTF">2026-05-07T07:37:54Z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